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d343da32aa4196" /><Relationship Type="http://schemas.openxmlformats.org/officeDocument/2006/relationships/extended-properties" Target="/docProps/app.xml" Id="R98462bd7d50d4089" /><Relationship Type="http://schemas.openxmlformats.org/officeDocument/2006/relationships/officeDocument" Target="/ppt/presentation.xml" Id="R286c2fcee47f4a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7d087bac44e7a"/>
  </p:sldMasterIdLst>
  <p:notesMasterIdLst>
    <p:notesMasterId xmlns:r="http://schemas.openxmlformats.org/officeDocument/2006/relationships" r:id="R5b69fe0ec76e4585"/>
  </p:notesMasterIdLst>
  <p:sldIdLst>
    <p:sldId xmlns:r="http://schemas.openxmlformats.org/officeDocument/2006/relationships" id="256" r:id="R312c2e197d2c41f3"/>
    <p:sldId xmlns:r="http://schemas.openxmlformats.org/officeDocument/2006/relationships" id="257" r:id="R820fe69f933e4260"/>
    <p:sldId xmlns:r="http://schemas.openxmlformats.org/officeDocument/2006/relationships" id="258" r:id="R09dab5858b514cdf"/>
    <p:sldId xmlns:r="http://schemas.openxmlformats.org/officeDocument/2006/relationships" id="259" r:id="R1f526a24a57d41be"/>
    <p:sldId xmlns:r="http://schemas.openxmlformats.org/officeDocument/2006/relationships" id="260" r:id="R59040c5d396647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41fc74c3454d0e" /><Relationship Type="http://schemas.openxmlformats.org/officeDocument/2006/relationships/slideMaster" Target="/ppt/slideMasters/slideMaster1.xml" Id="Rbe37d087bac44e7a" /><Relationship Type="http://schemas.openxmlformats.org/officeDocument/2006/relationships/notesMaster" Target="/ppt/notesMasters/notesMaster1.xml" Id="R5b69fe0ec76e4585" /><Relationship Type="http://schemas.openxmlformats.org/officeDocument/2006/relationships/presProps" Target="/ppt/presProps.xml" Id="Rfb8f78ce8e5b4eae" /><Relationship Type="http://schemas.openxmlformats.org/officeDocument/2006/relationships/tableStyles" Target="/ppt/tableStyles.xml" Id="R2eb2b20607fb4b20" /><Relationship Type="http://schemas.openxmlformats.org/officeDocument/2006/relationships/slide" Target="/ppt/slides/slide1.xml" Id="R312c2e197d2c41f3" /><Relationship Type="http://schemas.openxmlformats.org/officeDocument/2006/relationships/slide" Target="/ppt/slides/slide2.xml" Id="R820fe69f933e4260" /><Relationship Type="http://schemas.openxmlformats.org/officeDocument/2006/relationships/slide" Target="/ppt/slides/slide3.xml" Id="R09dab5858b514cdf" /><Relationship Type="http://schemas.openxmlformats.org/officeDocument/2006/relationships/slide" Target="/ppt/slides/slide4.xml" Id="R1f526a24a57d41be" /><Relationship Type="http://schemas.openxmlformats.org/officeDocument/2006/relationships/slide" Target="/ppt/slides/slide5.xml" Id="R59040c5d396647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2de6f00d304e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848f51f6e24436" /><Relationship Type="http://schemas.openxmlformats.org/officeDocument/2006/relationships/notesMaster" Target="/ppt/notesMasters/notesMaster1.xml" Id="R891426d87afe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502103bce446d0" /><Relationship Type="http://schemas.openxmlformats.org/officeDocument/2006/relationships/notesMaster" Target="/ppt/notesMasters/notesMaster1.xml" Id="R5d4e2ef337ec4c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c84c7ee2be4eb9" /><Relationship Type="http://schemas.openxmlformats.org/officeDocument/2006/relationships/notesMaster" Target="/ppt/notesMasters/notesMaster1.xml" Id="Ra274f0028cac45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b4c21b07184d97" /><Relationship Type="http://schemas.openxmlformats.org/officeDocument/2006/relationships/notesMaster" Target="/ppt/notesMasters/notesMaster1.xml" Id="Rbe75c90dd9cc4b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3f32160a714343" /><Relationship Type="http://schemas.openxmlformats.org/officeDocument/2006/relationships/notesMaster" Target="/ppt/notesMasters/notesMaster1.xml" Id="Ree823b9e04a4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052fe76154a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0887a6eaa247cb" /><Relationship Type="http://schemas.openxmlformats.org/officeDocument/2006/relationships/slideLayout" Target="/ppt/slideLayouts/slideLayout1.xml" Id="R839a1e799f8b47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a1e799f8b47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56ce42ff348a8" /><Relationship Type="http://schemas.openxmlformats.org/officeDocument/2006/relationships/notesSlide" Target="/ppt/notesSlides/notesSlide1.xml" Id="R2843d035589c4e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6d92929fa4835" /><Relationship Type="http://schemas.openxmlformats.org/officeDocument/2006/relationships/notesSlide" Target="/ppt/notesSlides/notesSlide2.xml" Id="R25fa7d09436344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6fe439d334ce7" /><Relationship Type="http://schemas.openxmlformats.org/officeDocument/2006/relationships/notesSlide" Target="/ppt/notesSlides/notesSlide3.xml" Id="R16eba4bc637e47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187fbc35c47c6" /><Relationship Type="http://schemas.openxmlformats.org/officeDocument/2006/relationships/notesSlide" Target="/ppt/notesSlides/notesSlide4.xml" Id="R81017e9927f842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28681c70c436a" /><Relationship Type="http://schemas.openxmlformats.org/officeDocument/2006/relationships/notesSlide" Target="/ppt/notesSlides/notesSlide5.xml" Id="R8352ca5c4cdc43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9084F-F417-445B-A3C7-0123BCD1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Lumen Lane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BFDCE-6B92-4DCA-B035-A1024F4A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Ecommerce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17DBE-1C2B-477A-989A-938EBBCD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66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Cart and Checkout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D9062-B533-4F94-BC00-BCCE4DA0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990850"/>
            <a:ext cx="581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How users collect products, review totals, validate delivery details, complete payment, and create confirmed orders.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A19EF-314A-48F8-BB38-E664469B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19099-11C0-4564-8AC3-E11D98D2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618BD-58DD-4E64-BB7E-F466E68A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Items, quantity, stock, totals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D843B-61F1-4B33-938A-5196D4EB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1"/>
          </a:solidFill>
          <a:ln xmlns:a="http://schemas.openxmlformats.org/drawingml/2006/main" w="19050">
            <a:solidFill>
              <a:srgbClr val="E85D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99B72-EC66-414F-8471-7411FA47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193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5C578-B81C-4C2A-B4BC-93F88946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Address, payment, order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72500" y="220027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85D3F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4DEBC-6EF4-4A31-95D6-F1D27344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43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977C1-9532-4916-87AF-570E7557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67250"/>
            <a:ext cx="777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Customer-only flow: login is required and admin accounts are blocked.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76A5F-1FDB-431D-9BAD-FC64F340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67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18357-E62B-40EF-9B0B-0C196CC9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91125"/>
            <a:ext cx="777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Frontend cart state is refreshed from backend APIs after every cart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829BB-AEA3-4A23-8669-AE1EA939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791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204B3-8745-4C5D-AF55-5273A719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15000"/>
            <a:ext cx="777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Checkout uses Razorpay when configured; otherwise it falls back to demo payment.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F6ACA-9A7D-4EEB-B7D7-AD87F7F6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Lumen Lane ecommerce | Cart &amp; checkout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0CCEF-F1FE-4A7B-A204-4C5C2F6F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307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2DBD2E-344F-4336-92E5-71FB45C4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 and checkout module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4614D-E1B6-4D20-A685-6939CA84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Cart Module: What It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EC1B7-C7A9-4C8A-BC03-38C63EF7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The cart acts as the temporary purchase workspace between product browsing and checkout.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5F2DF-1228-4A0F-A256-5E6B81A4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D80A9-54C8-4611-BF99-EF37CBD0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541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Loads the authenticated customer's cart with GET /cart and keeps a local snapshot for faster UI recovery.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D9E30-2B24-4FD9-95FB-45962FD0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05111-5DEA-4D52-8047-7FFA633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541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Adds products with POST /cart/items; duplicate products are merged by increasing quantity.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56330-D00E-4AE9-8861-811C3863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506BF-CE4B-4E2E-A65F-523481B8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541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Updates quantity with PUT /cart/items/{id}; decreasing below 1 removes the item.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CB2FE-D8AC-4B55-9C90-99F27282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A0F89-E1A3-4684-B730-CD338904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541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Validates product existence, positive quantity, and available stock on the backend.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333A0-8CF2-46A9-8147-74D6FA52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B125F-F909-4E8C-BF35-57CD7E86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541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Calculates line totals and cart total from product price multiplied by quantity.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8818C-70F6-4A92-8949-064BF59D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81316-DAF0-4BAA-A86C-4DCD6CEA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541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Supports remove all, save for later, coupon display, shipping estimate, and tax preview in the UI.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AFD64-3C65-40CB-8EE8-010837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2133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79EA6-E5A2-409D-A5D1-6EC24BAD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4B1BF-72DC-49D9-9C98-9291EEA1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62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CartContext + CartPage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81B3F-14DC-459F-9F70-70A87188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76400"/>
            <a:ext cx="2133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BEE78-9725-4B7A-9D15-6B11FCF9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52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EA646-FE69-4697-B390-7D54501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622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CartController + CartService</a:t>
            </a:r>
          </a:p>
        </p:txBody>
      </p:sp>
      <p:cxnSp>
        <p:nvCxnSpPr>
          <p:cNvPr id="48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515350" y="20955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85D3F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D6554-3A3F-42A4-91B8-F664C299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Key cart APIs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805D2-8B4B-4DBF-A1C7-E0AD62CD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724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GET /cart</a:t>
            </a:r>
          </a:p>
          <a:p xmlns:a="http://schemas.openxmlformats.org/drawingml/2006/main">
            <a:pPr algn="l">
              <a:defRPr sz="165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POST /cart/items</a:t>
            </a:r>
          </a:p>
          <a:p xmlns:a="http://schemas.openxmlformats.org/drawingml/2006/main">
            <a:pPr algn="l">
              <a:defRPr sz="165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PUT /cart/items/{cartItemId}</a:t>
            </a:r>
          </a:p>
          <a:p xmlns:a="http://schemas.openxmlformats.org/drawingml/2006/main">
            <a:pPr algn="l">
              <a:defRPr sz="165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DELETE /cart/items/{cartItemId}</a:t>
            </a:r>
          </a:p>
          <a:p xmlns:a="http://schemas.openxmlformats.org/drawingml/2006/main">
            <a:pPr algn="l">
              <a:defRPr sz="165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DELETE /cart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80887-40A9-4141-8386-C09C6821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Lumen Lane ecommerce | Cart &amp; checkout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11069-5CD8-4545-B4EC-DB4C3282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2078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A7B5AF-2065-4CD1-B2C3-CCB0860C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 and checkout module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A2CD5-9BBE-4CEC-B6A6-5CBAF8A3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Cart Flow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A0D04-4F2E-4E9D-9A2F-04A1C57B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952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B782A-A2C7-4039-A7A7-924374BC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166DA-DDB0-49E1-948A-DAADD31F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5E8D4-8967-4200-8D6C-94737993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609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User chooses a product and quantity.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30CA9-7F74-4CAB-875C-D0AEBD00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1952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1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2C44A-928B-4DA4-AB9B-F332678C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240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D4F7F-6B1E-4751-AE7C-54F59F18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4792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Add To Cart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2101F-282C-4763-A746-14014666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24175"/>
            <a:ext cx="1609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CartContext sends productId and quantity.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3AF03-B119-4CC1-B07B-51F73A2B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952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DBF88-4A98-4AE6-807A-9DA40FF3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240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334DC-CB98-4F14-9A02-8F3904D9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4792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9E0EF-6A07-48B3-A0D9-2F14E812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24175"/>
            <a:ext cx="1609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Backend checks user, product, quantity, and stock.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31784-38E7-4F28-9088-14FD6A30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52625"/>
            <a:ext cx="1952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F64CC-9380-483C-B401-808DFDC7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240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1E94E-3F31-4E9F-9446-34D5735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4792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Persist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13F4A-1C99-4E1D-941C-A8F4581A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24175"/>
            <a:ext cx="1609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CartService reuses the cart and merges duplicates.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4AEFD-35C4-4741-8ADA-7C9B510A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00550"/>
            <a:ext cx="1952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1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3CADE-29D3-4784-A644-EDF32E69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720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7E7EB-16FC-48E3-8FF5-8343AD28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95850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Refresh 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24E04-F62F-4E47-BEEF-8345934D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72100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Frontend syncs items, count, subtotal, and line totals.</a:t>
            </a:r>
          </a:p>
        </p:txBody>
      </p:sp>
      <p:cxnSp>
        <p:nvCxnSpPr>
          <p:cNvPr id="54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66975" y="28003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905375" y="28003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343775" y="28003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367463" y="3648075"/>
            <a:ext cx="243840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DDC85-6FDC-45B2-AB5E-9A74A132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52625"/>
            <a:ext cx="1600200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D0ADFE-4B99-40B8-8CC6-AC76ADC8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622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Protection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49251F-15E6-4EAD-97A3-97D18DDF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05150"/>
            <a:ext cx="1143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Login required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Admin blocked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Stock checked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Empty cart handled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Cart cleared after 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6077D-2407-47F6-9887-2D357408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Lumen Lane ecommerce | Cart &amp; checkout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9029A2-5BD0-41B5-B215-5DE2EC60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2514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3D949-E346-40AA-89BB-2847FB5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 and checkout module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136A2-DF2B-432B-8E76-2F22C5D2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Module: From Cart To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59E46-E1D3-4C1C-9C81-AC44F191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Checkout converts the cart into a confirmed order only after address validation and payment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069FB-BBDD-446D-8E75-AF4C6A86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44126-762E-4D23-BE7B-17036E5F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Delivery address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4F476-4FCE-41C1-8FC9-364BDCB6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990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Users select, add, edit, or delete saved addresses. Required fields, 10-digit phone numbers, Indian pincode format, and India-only delivery are checked before payment.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99F18-F07B-4F2F-B461-CF14937A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24125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1"/>
          </a:solidFill>
          <a:ln xmlns:a="http://schemas.openxmlformats.org/drawingml/2006/main" w="19050">
            <a:solidFill>
              <a:srgbClr val="E85D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7D01F-D422-471E-A411-BABBA98D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Payment 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3BB83-CFC1-4520-A5CA-19B7EB0F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29000"/>
            <a:ext cx="2990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The app creates a checkout session from the current cart. Razorpay orders are created when keys are available; otherwise a demo payment simulates success.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11500-7E94-40AB-9388-E68288F4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24125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E6921-3FCF-4159-8C13-18819D1C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Order creation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8C26D-9103-4F55-B153-1FCA1C6E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90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POST /orders/checkout stores order totals, address, payment reference, item snapshot, reduces product stock, and clears the cart.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73F01-6CAC-4C76-9055-3B9D7D93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Totals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93FE0-B880-4317-8CA3-3BBBD52A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768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subtotal + 18% tax + Rs. 49 shipping when subtotal is below Rs. 500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7EC54-57CD-4B09-9F3B-05030910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Lumen Lane ecommerce | Cart &amp;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A2061-C00C-4C17-9962-60CBAEE8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6613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08AC09-7385-446E-BCFF-F719F0E8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Cart and checkout module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43796-7A28-4AF3-8B4E-DBBDBA2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Flow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2529A-4A7D-4C78-8FC4-D0407CC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09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E2A83-D583-4081-9B79-8A507993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D3BF6-58E2-49C6-BF85-CB332F94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Cart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0A7-BFA4-492A-A700-E1434386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Check items, quantities, coupon, tax, and final total.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103FE-F7A6-47D0-BD5D-F91B31B8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00250"/>
            <a:ext cx="1809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1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32515-06F6-479D-BA6E-37E85B4F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71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FDD33-0608-47F9-89E0-87907D64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955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Address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A1CE7-4C93-42B1-A3D1-88C69C42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7180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Confirm required delivery fields before payment.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0ED21-0B31-4E10-AF63-636B86C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0250"/>
            <a:ext cx="1809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9C83E-05DD-4937-A305-C76C06C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B98CD-A893-4F67-AE38-45A35ACD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955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E43BD-FEA6-4BF4-ABF9-4D679F74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7180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Backend returns Razorpay or demo payment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CD50B-9BF2-42D9-800D-253EB950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000250"/>
            <a:ext cx="1809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583F2-5C6A-4E5C-9572-8086C323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71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D646A-09A9-41EF-98FA-6236C7E2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955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FF200-698E-4E75-84D2-38DB4E84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7180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Gateway or demo flow returns a payment reference.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328E9-57CA-43B8-82F0-71F4336C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00250"/>
            <a:ext cx="1809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1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B6298-5E12-4AB5-9954-9B05116C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71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8E9DA-6E9E-4A4F-B5F0-29ED3505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6B313-210A-4FC9-807F-D84C7286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7180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Order stores items, address, payment, and totals.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4FDE03-4DE3-416F-99E8-15AAA470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52950"/>
            <a:ext cx="4038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7BA4F-79AE-4F68-9645-1DF0CA88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244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F321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17508B-2B75-40C0-974F-6D9659C2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48250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After Success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76A06C-3664-4295-A973-2357C0D1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524500"/>
            <a:ext cx="36957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A2A2A"/>
                </a:solidFill>
                <a:latin typeface="Helvetica Neue"/>
                <a:ea typeface="Helvetica Neue"/>
                <a:cs typeface="Helvetica Neue"/>
              </a:rPr>
              <a:t>Stock reduces, cart clears, and the order appears in My Orders.</a:t>
            </a:r>
          </a:p>
        </p:txBody>
      </p:sp>
      <p:cxnSp>
        <p:nvCxnSpPr>
          <p:cNvPr id="63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09800" y="2847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29125" y="2847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648450" y="2847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867775" y="2847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6858000" y="3695700"/>
            <a:ext cx="33242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5A0BC5-B5AF-4D52-BA44-B3C15D5D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390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5E1521-F095-40B2-9738-CA7FAE8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Final result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4D7D37-8AD2-49FF-8CB7-8193A6A2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temporary cart becomes a permanent order record with payment, address, items, totals, and status.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E8DACB-0A8F-4611-BFD2-C057D09B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Lumen Lane ecommerce | Cart &amp; checkout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644CAF-A575-406A-97FC-F4AEC177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6558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2026-06-25T01:26:19.2460000Z</dcterms:created>
  <dcterms:modified xsi:type="dcterms:W3CDTF">2026-06-25T01:26:19.2460000Z</dcterms:modified>
</coreProperties>
</file>